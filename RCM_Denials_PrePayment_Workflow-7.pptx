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EF301-E53F-3648-9A54-AF6242D7FD7D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AC55D-C8D3-0249-B3EB-E76A54041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5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 /><Relationship Id="rId3" Type="http://schemas.openxmlformats.org/officeDocument/2006/relationships/image" Target="../media/image4.png" /><Relationship Id="rId7" Type="http://schemas.openxmlformats.org/officeDocument/2006/relationships/image" Target="../media/image8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3.png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 /><Relationship Id="rId3" Type="http://schemas.openxmlformats.org/officeDocument/2006/relationships/image" Target="../media/image14.png" /><Relationship Id="rId7" Type="http://schemas.openxmlformats.org/officeDocument/2006/relationships/image" Target="../media/image1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.png" /><Relationship Id="rId5" Type="http://schemas.openxmlformats.org/officeDocument/2006/relationships/image" Target="../media/image5.png" /><Relationship Id="rId4" Type="http://schemas.openxmlformats.org/officeDocument/2006/relationships/image" Target="../media/image15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 /><Relationship Id="rId3" Type="http://schemas.openxmlformats.org/officeDocument/2006/relationships/image" Target="../media/image18.png" /><Relationship Id="rId7" Type="http://schemas.openxmlformats.org/officeDocument/2006/relationships/image" Target="../media/image2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7.png" /><Relationship Id="rId5" Type="http://schemas.openxmlformats.org/officeDocument/2006/relationships/image" Target="../media/image20.png" /><Relationship Id="rId4" Type="http://schemas.openxmlformats.org/officeDocument/2006/relationships/image" Target="../media/image19.png" /><Relationship Id="rId9" Type="http://schemas.openxmlformats.org/officeDocument/2006/relationships/image" Target="../media/image8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 /><Relationship Id="rId3" Type="http://schemas.openxmlformats.org/officeDocument/2006/relationships/image" Target="../media/image23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6.png" /><Relationship Id="rId5" Type="http://schemas.openxmlformats.org/officeDocument/2006/relationships/image" Target="../media/image25.png" /><Relationship Id="rId4" Type="http://schemas.openxmlformats.org/officeDocument/2006/relationships/image" Target="../media/image2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457200"/>
            <a:ext cx="3657600" cy="3657600"/>
          </a:xfrm>
          <a:prstGeom prst="ellipse">
            <a:avLst/>
          </a:prstGeom>
          <a:solidFill>
            <a:srgbClr val="1A4A8A">
              <a:alpha val="40000"/>
            </a:srgbClr>
          </a:solidFill>
          <a:ln w="12700">
            <a:solidFill>
              <a:srgbClr val="1A4A8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4A8A">
              <a:alpha val="80000"/>
            </a:srgbClr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2560320" cy="2560320"/>
          </a:xfrm>
          <a:prstGeom prst="ellipse">
            <a:avLst/>
          </a:prstGeom>
          <a:solidFill>
            <a:srgbClr val="0B7B8A">
              <a:alpha val="25000"/>
            </a:srgbClr>
          </a:solidFill>
          <a:ln w="12700">
            <a:solidFill>
              <a:srgbClr val="0B7B8A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3474720"/>
            <a:ext cx="2011680" cy="2011680"/>
          </a:xfrm>
          <a:prstGeom prst="ellipse">
            <a:avLst/>
          </a:prstGeom>
          <a:solidFill>
            <a:srgbClr val="14A0B4">
              <a:alpha val="20000"/>
            </a:srgbClr>
          </a:solidFill>
          <a:ln w="12700">
            <a:solidFill>
              <a:srgbClr val="14A0B4">
                <a:alpha val="2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731520"/>
            <a:ext cx="1645920" cy="164592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743200"/>
            <a:ext cx="914400" cy="9144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743200"/>
            <a:ext cx="822960" cy="8229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02920" y="91440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02920" y="914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RCM TRAINING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457200" y="13716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RCM Denials &amp;</a:t>
            </a:r>
            <a:endParaRPr lang="en-US" sz="3400" dirty="0"/>
          </a:p>
        </p:txBody>
      </p:sp>
      <p:sp>
        <p:nvSpPr>
          <p:cNvPr id="13" name="Text 8"/>
          <p:cNvSpPr/>
          <p:nvPr/>
        </p:nvSpPr>
        <p:spPr>
          <a:xfrm>
            <a:off x="457200" y="19659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Pre-Payment Workflow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45720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CO-275, CO-150 &amp; Pre-Payment Letter Process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3246120"/>
            <a:ext cx="3200400" cy="36576"/>
          </a:xfrm>
          <a:prstGeom prst="rect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" y="34290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1A4A8A"/>
          </a:solidFill>
          <a:ln w="12700">
            <a:solidFill>
              <a:srgbClr val="14A0B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3429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Denial Codes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1874520" y="34290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1A4A8A"/>
          </a:solidFill>
          <a:ln w="12700">
            <a:solidFill>
              <a:srgbClr val="14A0B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874520" y="3429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Documentation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291840" y="34290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1A4A8A"/>
          </a:solidFill>
          <a:ln w="12700">
            <a:solidFill>
              <a:srgbClr val="14A0B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291840" y="3429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Escalation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Cycle Management  |  Billing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91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DC3C7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CO-275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6459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Payer Responsibility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patient responsibility that prior payer did not cover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4904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</a:rPr>
              <a:t>What It Means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payer's patient responsibility was </a:t>
            </a:r>
            <a:r>
              <a:rPr lang="en-US" sz="1200" b="1" dirty="0">
                <a:solidFill>
                  <a:srgbClr val="0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is being transferred to the next responsible party.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962656"/>
            <a:ext cx="347472" cy="347472"/>
          </a:xfrm>
          <a:prstGeom prst="ellipse">
            <a:avLst/>
          </a:prstGeom>
          <a:solidFill>
            <a:srgbClr val="EAF4FB"/>
          </a:solidFill>
          <a:ln w="12700">
            <a:solidFill>
              <a:srgbClr val="14A0B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9900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5840" y="29443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</a:rPr>
              <a:t>Deductible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05840" y="314553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Patient's annual deductible amount not met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48640" y="3529584"/>
            <a:ext cx="347472" cy="347472"/>
          </a:xfrm>
          <a:prstGeom prst="ellipse">
            <a:avLst/>
          </a:prstGeom>
          <a:solidFill>
            <a:srgbClr val="EAF4FB"/>
          </a:solidFill>
          <a:ln w="12700">
            <a:solidFill>
              <a:srgbClr val="14A0B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55701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5112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</a:rPr>
              <a:t>Coinsurance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005840" y="371246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Percentage share owed by patient after deductible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48640" y="4096512"/>
            <a:ext cx="347472" cy="347472"/>
          </a:xfrm>
          <a:prstGeom prst="ellipse">
            <a:avLst/>
          </a:prstGeom>
          <a:solidFill>
            <a:srgbClr val="EAF4FB"/>
          </a:solidFill>
          <a:ln w="12700">
            <a:solidFill>
              <a:srgbClr val="14A0B4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412394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40782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</a:rPr>
              <a:t>Co-payment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005840" y="4279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Fixed amount patient pays per service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709160" y="1261872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46304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7840" y="14904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</a:rPr>
              <a:t>Key Billing Rule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892040" y="201168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983480" y="202996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ONLY be used with </a:t>
            </a: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Code PR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(Patient Responsibility)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892040" y="28163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B8A"/>
                </a:solidFill>
              </a:rPr>
              <a:t>Group Code PR — Patient Responsibility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892040" y="312724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codes indicate the patient is responsible for the balance. Incorrect group codes lead to claim rejections and compliance issues.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892040" y="3794760"/>
            <a:ext cx="3749040" cy="731520"/>
          </a:xfrm>
          <a:prstGeom prst="roundRect">
            <a:avLst>
              <a:gd name="adj" fmla="val 10000"/>
            </a:avLst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950208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76672" y="3840480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with CO or OA group codes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results in invalid claim submission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CO-275  |  Prior Payer Responsibility  |  Must use Group Code PR only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1A8C5A"/>
          </a:solidFill>
          <a:ln w="12700">
            <a:solidFill>
              <a:srgbClr val="1A8C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91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DC3C7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1A8C5A"/>
          </a:solidFill>
          <a:ln w="12700">
            <a:solidFill>
              <a:srgbClr val="1A8C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CO-150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6459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Level of Service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deems submitted documentation insufficient to support billed service level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FEF9E7"/>
          </a:solidFill>
          <a:ln w="19050">
            <a:solidFill>
              <a:srgbClr val="F39C1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4475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1463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</a:rPr>
              <a:t>Documentation Submitted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19202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incomplete clinical notes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or generic physician signatures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medical necessity evidence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history &amp; physical records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9456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92040" y="1261872"/>
            <a:ext cx="3931920" cy="2331720"/>
          </a:xfrm>
          <a:prstGeom prst="roundRect">
            <a:avLst>
              <a:gd name="adj" fmla="val 3922"/>
            </a:avLst>
          </a:prstGeom>
          <a:solidFill>
            <a:srgbClr val="D5F5E3"/>
          </a:solidFill>
          <a:ln w="19050">
            <a:solidFill>
              <a:srgbClr val="27AE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144475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60720" y="14630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C5A"/>
                </a:solidFill>
              </a:rPr>
              <a:t>Service Level Billed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120640" y="192024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evaluation &amp; management codes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High-complexity clinical decision making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time-based service codes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Specialty-specific procedural services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429000" y="19202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42900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MISMATCH = DENIAL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749040"/>
            <a:ext cx="8503920" cy="1051560"/>
          </a:xfrm>
          <a:prstGeom prst="roundRect">
            <a:avLst>
              <a:gd name="adj" fmla="val 8696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3192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78561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A0B4"/>
                </a:solidFill>
              </a:rPr>
              <a:t>Complete Documentation is Critical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234440" y="407822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clinical notes, medical necessity statements, and physician signatures are complete before claim submission. Documentation must clearly support the billed service level code.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CO-150  |  Unsupported Level of Service  |  Documentation must match billed code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91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DC3C7"/>
                </a:solidFill>
              </a:rPr>
              <a:t>04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Pre-Payment Letter Review Overview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6675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when and why payers request documentation before processing claims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207008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FEF9E7"/>
          </a:solidFill>
          <a:ln w="19050">
            <a:solidFill>
              <a:srgbClr val="F39C1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1673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243584"/>
            <a:ext cx="76809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</a:rPr>
              <a:t>ALERT: Payer may request a Pre-Payment Letter before claim processing — action required within defined timelines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196596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1480" y="2029968"/>
            <a:ext cx="502920" cy="502920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208483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1480" y="26334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55"/>
                </a:solidFill>
              </a:rPr>
              <a:t>Claim Submitted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2980944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sent to payer for processing and adjudication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2788920"/>
            <a:ext cx="320040" cy="3200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200400" y="196596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291840" y="2029968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29184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2084832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91840" y="26334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55"/>
                </a:solidFill>
              </a:rPr>
              <a:t>Pre-Payment Request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337560" y="2980944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flags claim and requests documentation before payment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788920"/>
            <a:ext cx="320040" cy="32004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080760" y="196596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172200" y="2029968"/>
            <a:ext cx="502920" cy="502920"/>
          </a:xfrm>
          <a:prstGeom prst="ellipse">
            <a:avLst/>
          </a:prstGeom>
          <a:solidFill>
            <a:srgbClr val="1A8C5A"/>
          </a:solidFill>
          <a:ln w="12700">
            <a:solidFill>
              <a:srgbClr val="1A8C5A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172200" y="2029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2084832"/>
            <a:ext cx="411480" cy="4114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172200" y="26334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B55"/>
                </a:solidFill>
              </a:rPr>
              <a:t>Doc Validation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6217920" y="2980944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reviewed and validated prior to payment release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320040" y="425196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548640" y="42976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A0B4"/>
                </a:solidFill>
              </a:rPr>
              <a:t>Key Points:  </a:t>
            </a:r>
            <a:r>
              <a:rPr lang="en-US" sz="1050" dirty="0">
                <a:solidFill>
                  <a:srgbClr val="BDC3C7"/>
                </a:solidFill>
              </a:rPr>
              <a:t>Documentation validation required BEFORE payment  |  Timely response is critical  |  </a:t>
            </a:r>
            <a:r>
              <a:rPr lang="en-US" sz="1050" b="1" dirty="0">
                <a:solidFill>
                  <a:srgbClr val="F39C12"/>
                </a:solidFill>
              </a:rPr>
              <a:t>Missing docs = delayed payment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DC3C7"/>
                </a:solidFill>
              </a:rPr>
              <a:t>Pre-Payment Review  |  Documentation required before claim payment is released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731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DC3C7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Pre-Payment Letter Requests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decision workflow for pre-payment letter management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34640" y="114300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68" y="124358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179576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Pre-Payment Letter Requested?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691640"/>
            <a:ext cx="0" cy="274320"/>
          </a:xfrm>
          <a:prstGeom prst="line">
            <a:avLst/>
          </a:prstGeom>
          <a:noFill/>
          <a:ln w="25400">
            <a:solidFill>
              <a:srgbClr val="0B7B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7099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8C5A"/>
                </a:solidFill>
              </a:rPr>
              <a:t>YES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834640" y="196596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206654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002536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Documentation Available?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188720" y="2240280"/>
            <a:ext cx="1645920" cy="0"/>
          </a:xfrm>
          <a:prstGeom prst="line">
            <a:avLst/>
          </a:prstGeom>
          <a:noFill/>
          <a:ln w="25400">
            <a:solidFill>
              <a:srgbClr val="1A8C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71600" y="208483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8C5A"/>
                </a:solidFill>
              </a:rPr>
              <a:t>YES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1188720" y="2240280"/>
            <a:ext cx="0" cy="411480"/>
          </a:xfrm>
          <a:prstGeom prst="line">
            <a:avLst/>
          </a:prstGeom>
          <a:noFill/>
          <a:ln w="25400">
            <a:solidFill>
              <a:srgbClr val="1A8C5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2240280"/>
            <a:ext cx="164592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0" y="208483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</a:rPr>
              <a:t>NO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7955280" y="2240280"/>
            <a:ext cx="0" cy="41148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28600" y="26517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1A8C5A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78892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8368" y="267919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55"/>
                </a:solidFill>
              </a:rPr>
              <a:t>Save in Filebound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D2B55"/>
                </a:solidFill>
              </a:rPr>
              <a:t>under Appeals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1188720" y="3291840"/>
            <a:ext cx="0" cy="301752"/>
          </a:xfrm>
          <a:prstGeom prst="line">
            <a:avLst/>
          </a:prstGeom>
          <a:noFill/>
          <a:ln w="25400">
            <a:solidFill>
              <a:srgbClr val="1A8C5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82880" y="359359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D5F5E3"/>
          </a:solidFill>
          <a:ln w="19050">
            <a:solidFill>
              <a:srgbClr val="27AE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74904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1792" y="36210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Apply Status: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274320" y="3858768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1A8C5A"/>
          </a:solidFill>
          <a:ln w="12700">
            <a:solidFill>
              <a:srgbClr val="1A8C5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74320" y="38587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PPLTRRCV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82880" y="42336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C3E50"/>
                </a:solidFill>
              </a:rPr>
              <a:t>Prepayment Letter Received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1188720" y="4370832"/>
            <a:ext cx="0" cy="256032"/>
          </a:xfrm>
          <a:prstGeom prst="line">
            <a:avLst/>
          </a:prstGeom>
          <a:noFill/>
          <a:ln w="25400">
            <a:solidFill>
              <a:srgbClr val="1A8C5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82880" y="4626864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70916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03504" y="46634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Escalate to Onshore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903720" y="26517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5160" y="278892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342632" y="267919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55"/>
                </a:solidFill>
              </a:rPr>
              <a:t>Follow RCPD-00615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D2B55"/>
                </a:solidFill>
              </a:rPr>
              <a:t>Request Missing Docs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7955280" y="3291840"/>
            <a:ext cx="0" cy="301752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903720" y="3593592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DEBD0"/>
          </a:solidFill>
          <a:ln w="19050">
            <a:solidFill>
              <a:srgbClr val="F39C1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0" y="3749040"/>
            <a:ext cx="292608" cy="29260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351776" y="36210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Apply Status: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6995160" y="3858768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6995160" y="38587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PPDOCSRQ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6903720" y="42336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C3E50"/>
                </a:solidFill>
              </a:rPr>
              <a:t>Prepayment Docs Requested</a:t>
            </a:r>
            <a:endParaRPr lang="en-US" sz="750" dirty="0"/>
          </a:p>
        </p:txBody>
      </p:sp>
      <p:sp>
        <p:nvSpPr>
          <p:cNvPr id="45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DC3C7"/>
                </a:solidFill>
              </a:rPr>
              <a:t>Pre-Payment Workflow  |  PPLTRRCV (docs available)  |  PPDOCSRQ (docs missing)  |  SOP: RCPD-00615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A4A8A">
              <a:alpha val="30000"/>
            </a:srgbClr>
          </a:solidFill>
          <a:ln w="12700">
            <a:solidFill>
              <a:srgbClr val="1A4A8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B7B8A">
              <a:alpha val="20000"/>
            </a:srgbClr>
          </a:solidFill>
          <a:ln w="12700">
            <a:solidFill>
              <a:srgbClr val="0B7B8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13716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DC3C7"/>
                </a:solidFill>
              </a:rPr>
              <a:t>06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8288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 &amp; Escalation Summary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66751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checklist for Pre-Payment Letter handling and escalation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" y="1005840"/>
            <a:ext cx="8503920" cy="36576"/>
          </a:xfrm>
          <a:prstGeom prst="rect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11155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4A8A">
              <a:alpha val="70000"/>
            </a:srgbClr>
          </a:solidFill>
          <a:ln w="12700">
            <a:solidFill>
              <a:srgbClr val="14A0B4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1832" y="12435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A0B4"/>
                </a:solidFill>
              </a:rPr>
              <a:t>Verify Availability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170992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a Pre-Payment Letter has been requested by the payer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18688" y="11155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4A8A">
              <a:alpha val="70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12801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40480" y="12435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Documentation Handling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355848" y="170992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documents are saved in Filebound under Appeals for all received letters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117336" y="1115568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4A8A">
              <a:alpha val="70000"/>
            </a:srgbClr>
          </a:solidFill>
          <a:ln w="12700">
            <a:solidFill>
              <a:srgbClr val="F39C12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12801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39128" y="12435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Apply Status Codes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254496" y="170992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PPLTRRCV when docs available; PPDOCSRQ when docs are missing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1600200" y="2505456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4A8A">
              <a:alpha val="70000"/>
            </a:srgbClr>
          </a:solidFill>
          <a:ln w="12700">
            <a:solidFill>
              <a:srgbClr val="0B7B8A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" y="2670048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221992" y="2633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B8A"/>
                </a:solidFill>
              </a:rPr>
              <a:t>Follow SOP RCPD-00615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737360" y="309981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missing documentation using the defined SOP process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498848" y="2505456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A4A8A">
              <a:alpha val="70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6008" y="2670048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20640" y="2633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Timely Escalation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4636008" y="309981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onshore team promptly after documentation is received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320040" y="4041648"/>
            <a:ext cx="8503920" cy="777240"/>
          </a:xfrm>
          <a:prstGeom prst="roundRect">
            <a:avLst>
              <a:gd name="adj" fmla="val 11765"/>
            </a:avLst>
          </a:prstGeom>
          <a:solidFill>
            <a:srgbClr val="0B7B8A">
              <a:alpha val="80000"/>
            </a:srgbClr>
          </a:solidFill>
          <a:ln w="19050">
            <a:solidFill>
              <a:srgbClr val="14A0B4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69664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87552" y="40690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4A0B4"/>
                </a:solidFill>
              </a:rPr>
              <a:t>BEST PRACTICE</a:t>
            </a:r>
            <a:endParaRPr lang="en-US" sz="800" dirty="0"/>
          </a:p>
        </p:txBody>
      </p:sp>
      <p:sp>
        <p:nvSpPr>
          <p:cNvPr id="32" name="Text 23"/>
          <p:cNvSpPr/>
          <p:nvPr/>
        </p:nvSpPr>
        <p:spPr>
          <a:xfrm>
            <a:off x="987552" y="4334256"/>
            <a:ext cx="7699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pre-payment letter status before working a claim. Apply the correct status code immediately — PPLTRRCV (green) for received letters, PPDOCSRQ (orange) for missing docs — and escalate without delay.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320040" y="4828032"/>
            <a:ext cx="4023360" cy="237744"/>
          </a:xfrm>
          <a:prstGeom prst="roundRect">
            <a:avLst>
              <a:gd name="adj" fmla="val 15385"/>
            </a:avLst>
          </a:prstGeom>
          <a:solidFill>
            <a:srgbClr val="1A8C5A"/>
          </a:solidFill>
          <a:ln w="12700">
            <a:solidFill>
              <a:srgbClr val="1A8C5A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457200" y="48371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PPLTRRCV — Pre-Payment Letter Received</a:t>
            </a:r>
            <a:endParaRPr lang="en-US" sz="850" dirty="0"/>
          </a:p>
        </p:txBody>
      </p:sp>
      <p:sp>
        <p:nvSpPr>
          <p:cNvPr id="35" name="Shape 26"/>
          <p:cNvSpPr/>
          <p:nvPr/>
        </p:nvSpPr>
        <p:spPr>
          <a:xfrm>
            <a:off x="4800600" y="4828032"/>
            <a:ext cx="4023360" cy="237744"/>
          </a:xfrm>
          <a:prstGeom prst="roundRect">
            <a:avLst>
              <a:gd name="adj" fmla="val 15385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4937760" y="48371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PPDOCSRQ — Pre-Payment Docs Requested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RCM Denials &amp; Pre-Payment Workflow</dc:title>
  <dc:subject>PptxGenJS Presentation</dc:subject>
  <dc:creator>PptxGenJS</dc:creator>
  <cp:lastModifiedBy>Adheeb Fenazir</cp:lastModifiedBy>
  <cp:revision>2</cp:revision>
  <dcterms:created xsi:type="dcterms:W3CDTF">2026-06-19T22:17:55Z</dcterms:created>
  <dcterms:modified xsi:type="dcterms:W3CDTF">2026-06-19T22:20:54Z</dcterms:modified>
</cp:coreProperties>
</file>